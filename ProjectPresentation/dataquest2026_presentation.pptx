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1" r:id="rId5"/>
    <p:sldId id="284" r:id="rId6"/>
    <p:sldId id="280" r:id="rId7"/>
    <p:sldId id="278" r:id="rId8"/>
    <p:sldId id="261" r:id="rId9"/>
    <p:sldId id="273" r:id="rId10"/>
    <p:sldId id="279" r:id="rId11"/>
    <p:sldId id="265" r:id="rId12"/>
    <p:sldId id="277" r:id="rId13"/>
    <p:sldId id="268" r:id="rId14"/>
    <p:sldId id="266" r:id="rId15"/>
    <p:sldId id="292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7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4E77-8F7F-C091-A6CD-F9591333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8D03-BCD3-2516-5A17-7890FD56F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3AAD0-5D1A-5384-531C-8A99D3C15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54F1F-92BA-AFB1-9D22-E7208D0FE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7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DataQuest2026: Building Interpretable Credit Models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15" name="Picture Placeholder 14" descr="A group of people sitting around a table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  <a:noFill/>
        </p:spPr>
        <p:txBody>
          <a:bodyPr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  <a:noFill/>
        </p:spPr>
        <p:txBody>
          <a:bodyPr>
            <a:noAutofit/>
          </a:bodyPr>
          <a:lstStyle/>
          <a:p>
            <a:r>
              <a:rPr lang="en-US" dirty="0"/>
              <a:t>OVERCOMING NERVOUSNESS</a:t>
            </a:r>
          </a:p>
        </p:txBody>
      </p:sp>
      <p:pic>
        <p:nvPicPr>
          <p:cNvPr id="91" name="Picture Placeholder 90" descr="A person sitting at a table with her fingers up">
            <a:extLst>
              <a:ext uri="{FF2B5EF4-FFF2-40B4-BE49-F238E27FC236}">
                <a16:creationId xmlns:a16="http://schemas.microsoft.com/office/drawing/2014/main" id="{BC622EA4-CCB7-907A-0126-D0A68A5DC7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" r="451"/>
          <a:stretch/>
        </p:blipFill>
        <p:spPr>
          <a:xfrm flipH="1">
            <a:off x="6086167" y="-22225"/>
            <a:ext cx="6080760" cy="6902450"/>
          </a:xfrm>
        </p:spPr>
      </p:pic>
      <p:sp>
        <p:nvSpPr>
          <p:cNvPr id="15" name="Subtitle 14">
            <a:extLst>
              <a:ext uri="{FF2B5EF4-FFF2-40B4-BE49-F238E27FC236}">
                <a16:creationId xmlns:a16="http://schemas.microsoft.com/office/drawing/2014/main" id="{9C373000-EEA1-D16F-189A-338FFDA2E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/>
          <a:lstStyle/>
          <a:p>
            <a:r>
              <a:rPr lang="en-US"/>
              <a:t>CONFIDENCE-BUILDING STRATEGIES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noFill/>
        </p:spPr>
        <p:txBody>
          <a:bodyPr anchor="ctr"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20" name="Picture Placeholder 7" descr="A person talking to another person">
            <a:extLst>
              <a:ext uri="{FF2B5EF4-FFF2-40B4-BE49-F238E27FC236}">
                <a16:creationId xmlns:a16="http://schemas.microsoft.com/office/drawing/2014/main" id="{59669B42-CC26-1A2A-1FE7-526E425D01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437" r="10437"/>
          <a:stretch/>
        </p:blipFill>
        <p:spPr>
          <a:xfrm>
            <a:off x="0" y="0"/>
            <a:ext cx="428783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286000"/>
          </a:xfrm>
          <a:noFill/>
        </p:spPr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336FEA9-C85A-3569-16F0-5ECBABBE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5198"/>
            <a:ext cx="9144000" cy="683219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5212079" cy="4137189"/>
          </a:xfrm>
          <a:noFill/>
        </p:spPr>
        <p:txBody>
          <a:bodyPr>
            <a:normAutofit/>
          </a:bodyPr>
          <a:lstStyle/>
          <a:p>
            <a:r>
              <a:rPr lang="en-US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/>
              <a:t>Pitch variation</a:t>
            </a:r>
          </a:p>
          <a:p>
            <a:pPr lvl="1"/>
            <a:r>
              <a:rPr lang="en-US"/>
              <a:t>Tone inflection</a:t>
            </a:r>
          </a:p>
          <a:p>
            <a:pPr lvl="1"/>
            <a:r>
              <a:rPr lang="en-US"/>
              <a:t>Volume control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>
            <a:normAutofit/>
          </a:bodyPr>
          <a:lstStyle/>
          <a:p>
            <a:r>
              <a:rPr lang="en-US"/>
              <a:t>Effective body language enhances your message, making it more impactful and memorable:</a:t>
            </a:r>
          </a:p>
          <a:p>
            <a:pPr lvl="1"/>
            <a:r>
              <a:rPr lang="en-US"/>
              <a:t>Meaningful eye contact</a:t>
            </a:r>
          </a:p>
          <a:p>
            <a:pPr lvl="1"/>
            <a:r>
              <a:rPr lang="en-US"/>
              <a:t>Purposeful gestures</a:t>
            </a:r>
          </a:p>
          <a:p>
            <a:pPr lvl="1"/>
            <a:r>
              <a:rPr lang="en-US"/>
              <a:t>Maintain good posture</a:t>
            </a:r>
          </a:p>
          <a:p>
            <a:pPr lvl="1"/>
            <a:r>
              <a:rPr lang="en-US"/>
              <a:t>Control your expressions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024781"/>
            <a:ext cx="2878394" cy="4137189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  <a:noFill/>
        </p:spPr>
        <p:txBody>
          <a:bodyPr anchor="b"/>
          <a:lstStyle/>
          <a:p>
            <a:r>
              <a:rPr lang="en-US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257063"/>
            <a:ext cx="4894006" cy="390490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15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BBD84AA8-495D-1210-1B06-DA73C5BCF3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</p:spPr>
      </p:pic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Dynamic delivery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96074" y="2106591"/>
            <a:ext cx="2067045" cy="3633787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834757309"/>
              </p:ext>
            </p:extLst>
          </p:nvPr>
        </p:nvGraphicFramePr>
        <p:xfrm>
          <a:off x="3484563" y="2106613"/>
          <a:ext cx="7921828" cy="403233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0457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8045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980457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980457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12591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82030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19464" y="1790329"/>
            <a:ext cx="5134335" cy="4113054"/>
          </a:xfrm>
          <a:noFill/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39F69-A1C6-AF25-B91E-7EEE8ED9E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A972-BD3A-3DCD-81F1-7AF161F5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FE33-53A6-E75A-9BA0-8B7B1BFD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2" name="Table Placeholder 3">
            <a:extLst>
              <a:ext uri="{FF2B5EF4-FFF2-40B4-BE49-F238E27FC236}">
                <a16:creationId xmlns:a16="http://schemas.microsoft.com/office/drawing/2014/main" id="{CB65501E-A327-D358-9D08-A3694677266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069353899"/>
              </p:ext>
            </p:extLst>
          </p:nvPr>
        </p:nvGraphicFramePr>
        <p:xfrm>
          <a:off x="612775" y="2108200"/>
          <a:ext cx="10972800" cy="392019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691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</TotalTime>
  <Words>424</Words>
  <Application>Microsoft Office PowerPoint</Application>
  <PresentationFormat>Widescreen</PresentationFormat>
  <Paragraphs>121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Wingdings</vt:lpstr>
      <vt:lpstr>Custom</vt:lpstr>
      <vt:lpstr>DataQuest2026: Building Interpretable Credit Models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Mnguni, Phumlani, (Mr) (s228338409)</dc:creator>
  <cp:lastModifiedBy>Mnguni, Phumlani, (Mr) (s228338409)</cp:lastModifiedBy>
  <cp:revision>1</cp:revision>
  <dcterms:created xsi:type="dcterms:W3CDTF">2026-05-05T20:27:23Z</dcterms:created>
  <dcterms:modified xsi:type="dcterms:W3CDTF">2026-05-05T20:31:03Z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